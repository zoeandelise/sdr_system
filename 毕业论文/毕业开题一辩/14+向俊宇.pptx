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14"/>
    <p:sldId id="281" r:id="rId15"/>
  </p:sldIdLst>
  <p:sldSz cx="12192000" cy="6858000"/>
  <p:notesSz cx="6858000" cy="12192000"/>
  <p:embeddedFontLst>
    <p:embeddedFont>
      <p:font typeface="MiSans" pitchFamily="34" charset="0"/>
      <p:regular r:id="rId19"/>
    </p:embeddedFont>
    <p:embeddedFont>
      <p:font typeface="MiSans" pitchFamily="34" charset="-122"/>
      <p:regular r:id="rId20"/>
    </p:embeddedFont>
    <p:embeddedFont>
      <p:font typeface="MiSans" pitchFamily="34" charset="-120"/>
      <p:regular r:id="rId21"/>
    </p:embeddedFont>
    <p:embeddedFont>
      <p:font typeface="Arial Black" panose="020B0A04020102020204" pitchFamily="34" charset="0"/>
      <p:bold r:id="rId22"/>
    </p:embeddedFont>
    <p:embeddedFont>
      <p:font typeface="Arial Black" panose="020B0A04020102020204" pitchFamily="34" charset="-122"/>
      <p:bold r:id="rId23"/>
    </p:embeddedFont>
    <p:embeddedFont>
      <p:font typeface="Arial Black" panose="020B0A04020102020204" pitchFamily="34" charset="-120"/>
      <p:bold r:id="rId24"/>
    </p:embeddedFont>
    <p:embeddedFont>
      <p:font typeface="Noto Sans SC" panose="020B0200000000000000" pitchFamily="34" charset="-122"/>
      <p:regular r:id="rId25"/>
    </p:embeddedFont>
    <p:embeddedFont>
      <p:font typeface="Noto Sans SC" panose="020B0200000000000000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等线" panose="02010600030101010101" charset="-122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5-d2sjffu1bb2p4onbpvl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590" y="2074336"/>
            <a:ext cx="1828800" cy="1892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93213" y="2018030"/>
            <a:ext cx="8091091" cy="191389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b="1" kern="0" spc="100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基于协同过滤算法的个性化饮食推荐系统设计与实现</a:t>
            </a:r>
            <a:endParaRPr lang="en-US" sz="4400" b="1" kern="0" spc="100" dirty="0">
              <a:solidFill>
                <a:srgbClr val="4874C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122410" y="4891405"/>
            <a:ext cx="2331720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</p:spPr>
      </p:sp>
      <p:sp>
        <p:nvSpPr>
          <p:cNvPr id="9" name="Text 6"/>
          <p:cNvSpPr/>
          <p:nvPr/>
        </p:nvSpPr>
        <p:spPr>
          <a:xfrm>
            <a:off x="9122410" y="4891405"/>
            <a:ext cx="2331720" cy="4292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9-04-14:54:55-d2sjffu1bb2p4onbpvj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760" y="4203065"/>
            <a:ext cx="303530" cy="14287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4-14:54:55-d2sjffu1bb2p4onbpv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35110" y="4889500"/>
            <a:ext cx="2306955" cy="4298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向俊宇</a:t>
            </a:r>
            <a:endParaRPr lang="zh-CN" altLang="en-US" sz="22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1"/>
          <a:srcRect l="20060" t="9520" b="9520"/>
          <a:stretch>
            <a:fillRect/>
          </a:stretch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选题背景与研究价值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01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</p:spPr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</p:spPr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0805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866900"/>
            <a:ext cx="43688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慢性病高发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驱动个性化饮食需求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3213100"/>
            <a:ext cx="436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我国居民健康形势严峻，不合理饮食是关键诱因。传统营养服务模式痛点突出，亟需智能化解决方案。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927600" y="1727200"/>
            <a:ext cx="3403600" cy="1168400"/>
          </a:xfrm>
          <a:custGeom>
            <a:avLst/>
            <a:gdLst/>
            <a:ahLst/>
            <a:cxnLst/>
            <a:rect l="l" t="t" r="r" b="b"/>
            <a:pathLst>
              <a:path w="3403600" h="1168400">
                <a:moveTo>
                  <a:pt x="101604" y="0"/>
                </a:moveTo>
                <a:lnTo>
                  <a:pt x="3301996" y="0"/>
                </a:lnTo>
                <a:cubicBezTo>
                  <a:pt x="3358110" y="0"/>
                  <a:pt x="3403600" y="45490"/>
                  <a:pt x="3403600" y="101604"/>
                </a:cubicBezTo>
                <a:lnTo>
                  <a:pt x="3403600" y="1066796"/>
                </a:lnTo>
                <a:cubicBezTo>
                  <a:pt x="3403600" y="1122910"/>
                  <a:pt x="3358110" y="1168400"/>
                  <a:pt x="33019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5130800" y="1930400"/>
            <a:ext cx="3505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678BC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34.3%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30800" y="24384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成年居民超重率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534400" y="1727200"/>
            <a:ext cx="3403600" cy="1168400"/>
          </a:xfrm>
          <a:custGeom>
            <a:avLst/>
            <a:gdLst/>
            <a:ahLst/>
            <a:cxnLst/>
            <a:rect l="l" t="t" r="r" b="b"/>
            <a:pathLst>
              <a:path w="3403600" h="1168400">
                <a:moveTo>
                  <a:pt x="101604" y="0"/>
                </a:moveTo>
                <a:lnTo>
                  <a:pt x="3301996" y="0"/>
                </a:lnTo>
                <a:cubicBezTo>
                  <a:pt x="3358110" y="0"/>
                  <a:pt x="3403600" y="45490"/>
                  <a:pt x="3403600" y="101604"/>
                </a:cubicBezTo>
                <a:lnTo>
                  <a:pt x="3403600" y="1066796"/>
                </a:lnTo>
                <a:cubicBezTo>
                  <a:pt x="3403600" y="1122910"/>
                  <a:pt x="3358110" y="1168400"/>
                  <a:pt x="33019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8737600" y="1930400"/>
            <a:ext cx="3505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678BC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16.4%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37600" y="24384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成年居民肥胖率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927600" y="3098800"/>
            <a:ext cx="3403600" cy="1168400"/>
          </a:xfrm>
          <a:custGeom>
            <a:avLst/>
            <a:gdLst/>
            <a:ahLst/>
            <a:cxnLst/>
            <a:rect l="l" t="t" r="r" b="b"/>
            <a:pathLst>
              <a:path w="3403600" h="1168400">
                <a:moveTo>
                  <a:pt x="101604" y="0"/>
                </a:moveTo>
                <a:lnTo>
                  <a:pt x="3301996" y="0"/>
                </a:lnTo>
                <a:cubicBezTo>
                  <a:pt x="3358110" y="0"/>
                  <a:pt x="3403600" y="45490"/>
                  <a:pt x="3403600" y="101604"/>
                </a:cubicBezTo>
                <a:lnTo>
                  <a:pt x="3403600" y="1066796"/>
                </a:lnTo>
                <a:cubicBezTo>
                  <a:pt x="3403600" y="1122910"/>
                  <a:pt x="3358110" y="1168400"/>
                  <a:pt x="33019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5130800" y="3302000"/>
            <a:ext cx="3505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678BC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30800" y="38100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慢性病死亡占比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534400" y="3098800"/>
            <a:ext cx="3403600" cy="1168400"/>
          </a:xfrm>
          <a:custGeom>
            <a:avLst/>
            <a:gdLst/>
            <a:ahLst/>
            <a:cxnLst/>
            <a:rect l="l" t="t" r="r" b="b"/>
            <a:pathLst>
              <a:path w="3403600" h="1168400">
                <a:moveTo>
                  <a:pt x="101604" y="0"/>
                </a:moveTo>
                <a:lnTo>
                  <a:pt x="3301996" y="0"/>
                </a:lnTo>
                <a:cubicBezTo>
                  <a:pt x="3358110" y="0"/>
                  <a:pt x="3403600" y="45490"/>
                  <a:pt x="3403600" y="101604"/>
                </a:cubicBezTo>
                <a:lnTo>
                  <a:pt x="3403600" y="1066796"/>
                </a:lnTo>
                <a:cubicBezTo>
                  <a:pt x="3403600" y="1122910"/>
                  <a:pt x="3358110" y="1168400"/>
                  <a:pt x="33019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8737600" y="3302000"/>
            <a:ext cx="3505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678BC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27.9%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37600" y="38100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高血压患病率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54000" y="4572000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18" name="Shape 15"/>
          <p:cNvSpPr/>
          <p:nvPr/>
        </p:nvSpPr>
        <p:spPr>
          <a:xfrm>
            <a:off x="994251" y="4762500"/>
            <a:ext cx="111125" cy="177800"/>
          </a:xfrm>
          <a:custGeom>
            <a:avLst/>
            <a:gdLst/>
            <a:ahLst/>
            <a:cxnLst/>
            <a:rect l="l" t="t" r="r" b="b"/>
            <a:pathLst>
              <a:path w="111125" h="177800">
                <a:moveTo>
                  <a:pt x="47228" y="8334"/>
                </a:moveTo>
                <a:cubicBezTo>
                  <a:pt x="47228" y="3716"/>
                  <a:pt x="50944" y="0"/>
                  <a:pt x="55563" y="0"/>
                </a:cubicBezTo>
                <a:cubicBezTo>
                  <a:pt x="60181" y="0"/>
                  <a:pt x="63897" y="3716"/>
                  <a:pt x="63897" y="8334"/>
                </a:cubicBezTo>
                <a:lnTo>
                  <a:pt x="63897" y="22225"/>
                </a:lnTo>
                <a:lnTo>
                  <a:pt x="83344" y="22225"/>
                </a:lnTo>
                <a:cubicBezTo>
                  <a:pt x="89490" y="22225"/>
                  <a:pt x="94456" y="27191"/>
                  <a:pt x="94456" y="33337"/>
                </a:cubicBezTo>
                <a:cubicBezTo>
                  <a:pt x="94456" y="39484"/>
                  <a:pt x="89490" y="44450"/>
                  <a:pt x="83344" y="44450"/>
                </a:cubicBezTo>
                <a:lnTo>
                  <a:pt x="43443" y="44450"/>
                </a:lnTo>
                <a:cubicBezTo>
                  <a:pt x="34796" y="44450"/>
                  <a:pt x="27781" y="51465"/>
                  <a:pt x="27781" y="60112"/>
                </a:cubicBezTo>
                <a:cubicBezTo>
                  <a:pt x="27781" y="67925"/>
                  <a:pt x="33511" y="74523"/>
                  <a:pt x="41220" y="75634"/>
                </a:cubicBezTo>
                <a:lnTo>
                  <a:pt x="73030" y="80184"/>
                </a:lnTo>
                <a:cubicBezTo>
                  <a:pt x="91713" y="82858"/>
                  <a:pt x="105569" y="98832"/>
                  <a:pt x="105569" y="117688"/>
                </a:cubicBezTo>
                <a:cubicBezTo>
                  <a:pt x="105569" y="138628"/>
                  <a:pt x="88587" y="155575"/>
                  <a:pt x="67682" y="155575"/>
                </a:cubicBezTo>
                <a:lnTo>
                  <a:pt x="63897" y="155575"/>
                </a:lnTo>
                <a:lnTo>
                  <a:pt x="63897" y="169466"/>
                </a:lnTo>
                <a:cubicBezTo>
                  <a:pt x="63897" y="174084"/>
                  <a:pt x="60181" y="177800"/>
                  <a:pt x="55563" y="177800"/>
                </a:cubicBezTo>
                <a:cubicBezTo>
                  <a:pt x="50944" y="177800"/>
                  <a:pt x="47228" y="174084"/>
                  <a:pt x="47228" y="169466"/>
                </a:cubicBezTo>
                <a:lnTo>
                  <a:pt x="47228" y="155575"/>
                </a:lnTo>
                <a:lnTo>
                  <a:pt x="22225" y="155575"/>
                </a:lnTo>
                <a:cubicBezTo>
                  <a:pt x="16078" y="155575"/>
                  <a:pt x="11112" y="150609"/>
                  <a:pt x="11112" y="144463"/>
                </a:cubicBezTo>
                <a:cubicBezTo>
                  <a:pt x="11112" y="138316"/>
                  <a:pt x="16078" y="133350"/>
                  <a:pt x="22225" y="133350"/>
                </a:cubicBezTo>
                <a:lnTo>
                  <a:pt x="67682" y="133350"/>
                </a:lnTo>
                <a:cubicBezTo>
                  <a:pt x="76329" y="133350"/>
                  <a:pt x="83344" y="126335"/>
                  <a:pt x="83344" y="117688"/>
                </a:cubicBezTo>
                <a:cubicBezTo>
                  <a:pt x="83344" y="109875"/>
                  <a:pt x="77614" y="103277"/>
                  <a:pt x="69905" y="102166"/>
                </a:cubicBezTo>
                <a:lnTo>
                  <a:pt x="38095" y="97616"/>
                </a:lnTo>
                <a:cubicBezTo>
                  <a:pt x="19412" y="94977"/>
                  <a:pt x="5556" y="78968"/>
                  <a:pt x="5556" y="60112"/>
                </a:cubicBezTo>
                <a:cubicBezTo>
                  <a:pt x="5556" y="39206"/>
                  <a:pt x="22538" y="22225"/>
                  <a:pt x="43443" y="22225"/>
                </a:cubicBezTo>
                <a:lnTo>
                  <a:pt x="47228" y="22225"/>
                </a:lnTo>
                <a:lnTo>
                  <a:pt x="47228" y="833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6"/>
          <p:cNvSpPr/>
          <p:nvPr/>
        </p:nvSpPr>
        <p:spPr>
          <a:xfrm>
            <a:off x="1265714" y="4724400"/>
            <a:ext cx="142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传统咨询成本高昂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765550" y="4762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ubicBezTo>
                  <a:pt x="0" y="39835"/>
                  <a:pt x="39835" y="0"/>
                  <a:pt x="88900" y="0"/>
                </a:cubicBezTo>
                <a:close/>
                <a:moveTo>
                  <a:pt x="80566" y="41672"/>
                </a:moveTo>
                <a:lnTo>
                  <a:pt x="80566" y="88900"/>
                </a:lnTo>
                <a:cubicBezTo>
                  <a:pt x="80566" y="91678"/>
                  <a:pt x="81955" y="94283"/>
                  <a:pt x="84281" y="95845"/>
                </a:cubicBezTo>
                <a:lnTo>
                  <a:pt x="117619" y="118070"/>
                </a:lnTo>
                <a:cubicBezTo>
                  <a:pt x="121439" y="120640"/>
                  <a:pt x="126613" y="119598"/>
                  <a:pt x="129183" y="115744"/>
                </a:cubicBezTo>
                <a:cubicBezTo>
                  <a:pt x="131753" y="111889"/>
                  <a:pt x="130711" y="106749"/>
                  <a:pt x="126856" y="104180"/>
                </a:cubicBezTo>
                <a:lnTo>
                  <a:pt x="97234" y="84455"/>
                </a:lnTo>
                <a:lnTo>
                  <a:pt x="97234" y="41672"/>
                </a:lnTo>
                <a:cubicBezTo>
                  <a:pt x="97234" y="37053"/>
                  <a:pt x="93519" y="33337"/>
                  <a:pt x="88900" y="33337"/>
                </a:cubicBezTo>
                <a:cubicBezTo>
                  <a:pt x="84281" y="33337"/>
                  <a:pt x="80566" y="37053"/>
                  <a:pt x="80566" y="4167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4070350" y="47244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效率低下，缺乏实时性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914674" y="47625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4238" y="-8647"/>
                </a:moveTo>
                <a:cubicBezTo>
                  <a:pt x="10974" y="-11911"/>
                  <a:pt x="5695" y="-11911"/>
                  <a:pt x="2466" y="-8647"/>
                </a:cubicBezTo>
                <a:cubicBezTo>
                  <a:pt x="-764" y="-5383"/>
                  <a:pt x="-799" y="-104"/>
                  <a:pt x="2431" y="3160"/>
                </a:cubicBezTo>
                <a:lnTo>
                  <a:pt x="185787" y="186516"/>
                </a:lnTo>
                <a:cubicBezTo>
                  <a:pt x="189051" y="189781"/>
                  <a:pt x="194330" y="189781"/>
                  <a:pt x="197559" y="186516"/>
                </a:cubicBezTo>
                <a:cubicBezTo>
                  <a:pt x="200789" y="183252"/>
                  <a:pt x="200824" y="177974"/>
                  <a:pt x="197559" y="174744"/>
                </a:cubicBezTo>
                <a:lnTo>
                  <a:pt x="108173" y="85323"/>
                </a:lnTo>
                <a:cubicBezTo>
                  <a:pt x="127273" y="81538"/>
                  <a:pt x="141684" y="64661"/>
                  <a:pt x="141684" y="44450"/>
                </a:cubicBezTo>
                <a:cubicBezTo>
                  <a:pt x="141684" y="21426"/>
                  <a:pt x="123036" y="2778"/>
                  <a:pt x="100013" y="2778"/>
                </a:cubicBezTo>
                <a:cubicBezTo>
                  <a:pt x="79802" y="2778"/>
                  <a:pt x="62925" y="17190"/>
                  <a:pt x="59139" y="36289"/>
                </a:cubicBezTo>
                <a:lnTo>
                  <a:pt x="14238" y="-8647"/>
                </a:lnTo>
                <a:close/>
                <a:moveTo>
                  <a:pt x="81816" y="106055"/>
                </a:moveTo>
                <a:cubicBezTo>
                  <a:pt x="51361" y="109944"/>
                  <a:pt x="27781" y="135954"/>
                  <a:pt x="27781" y="167486"/>
                </a:cubicBezTo>
                <a:cubicBezTo>
                  <a:pt x="27781" y="173181"/>
                  <a:pt x="32400" y="177800"/>
                  <a:pt x="38095" y="177800"/>
                </a:cubicBezTo>
                <a:lnTo>
                  <a:pt x="153561" y="177800"/>
                </a:lnTo>
                <a:lnTo>
                  <a:pt x="81816" y="10605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0"/>
          <p:cNvSpPr/>
          <p:nvPr/>
        </p:nvSpPr>
        <p:spPr>
          <a:xfrm>
            <a:off x="7230587" y="4724400"/>
            <a:ext cx="1244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个性化程度不足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552622" y="4762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>
            <a:off x="9857422" y="4724400"/>
            <a:ext cx="1397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AI技术提供新机遇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0805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558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传统营养服务的四大痛点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54100" y="2819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419225" y="30988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21444" y="21431"/>
                </a:moveTo>
                <a:cubicBezTo>
                  <a:pt x="121444" y="9555"/>
                  <a:pt x="130999" y="0"/>
                  <a:pt x="142875" y="0"/>
                </a:cubicBezTo>
                <a:cubicBezTo>
                  <a:pt x="154751" y="0"/>
                  <a:pt x="164306" y="9555"/>
                  <a:pt x="164306" y="21431"/>
                </a:cubicBezTo>
                <a:lnTo>
                  <a:pt x="164306" y="57150"/>
                </a:lnTo>
                <a:lnTo>
                  <a:pt x="214313" y="57150"/>
                </a:lnTo>
                <a:cubicBezTo>
                  <a:pt x="230118" y="57150"/>
                  <a:pt x="242888" y="69919"/>
                  <a:pt x="242888" y="85725"/>
                </a:cubicBezTo>
                <a:cubicBezTo>
                  <a:pt x="242888" y="101531"/>
                  <a:pt x="230118" y="114300"/>
                  <a:pt x="214313" y="114300"/>
                </a:cubicBezTo>
                <a:lnTo>
                  <a:pt x="111710" y="114300"/>
                </a:lnTo>
                <a:cubicBezTo>
                  <a:pt x="89475" y="114300"/>
                  <a:pt x="71438" y="132338"/>
                  <a:pt x="71438" y="154573"/>
                </a:cubicBezTo>
                <a:cubicBezTo>
                  <a:pt x="71438" y="174665"/>
                  <a:pt x="86171" y="191631"/>
                  <a:pt x="105995" y="194489"/>
                </a:cubicBezTo>
                <a:lnTo>
                  <a:pt x="187791" y="206186"/>
                </a:lnTo>
                <a:cubicBezTo>
                  <a:pt x="235833" y="213062"/>
                  <a:pt x="271463" y="254139"/>
                  <a:pt x="271463" y="302627"/>
                </a:cubicBezTo>
                <a:cubicBezTo>
                  <a:pt x="271463" y="356473"/>
                  <a:pt x="227796" y="400050"/>
                  <a:pt x="174040" y="400050"/>
                </a:cubicBezTo>
                <a:lnTo>
                  <a:pt x="164306" y="400050"/>
                </a:lnTo>
                <a:lnTo>
                  <a:pt x="164306" y="435769"/>
                </a:lnTo>
                <a:cubicBezTo>
                  <a:pt x="164306" y="447645"/>
                  <a:pt x="154751" y="457200"/>
                  <a:pt x="142875" y="457200"/>
                </a:cubicBezTo>
                <a:cubicBezTo>
                  <a:pt x="130999" y="457200"/>
                  <a:pt x="121444" y="447645"/>
                  <a:pt x="121444" y="435769"/>
                </a:cubicBezTo>
                <a:lnTo>
                  <a:pt x="121444" y="400050"/>
                </a:lnTo>
                <a:lnTo>
                  <a:pt x="57150" y="400050"/>
                </a:lnTo>
                <a:cubicBezTo>
                  <a:pt x="41344" y="400050"/>
                  <a:pt x="28575" y="387281"/>
                  <a:pt x="28575" y="371475"/>
                </a:cubicBezTo>
                <a:cubicBezTo>
                  <a:pt x="28575" y="355669"/>
                  <a:pt x="41344" y="342900"/>
                  <a:pt x="57150" y="342900"/>
                </a:cubicBezTo>
                <a:lnTo>
                  <a:pt x="174040" y="342900"/>
                </a:lnTo>
                <a:cubicBezTo>
                  <a:pt x="196275" y="342900"/>
                  <a:pt x="214313" y="324862"/>
                  <a:pt x="214313" y="302627"/>
                </a:cubicBezTo>
                <a:cubicBezTo>
                  <a:pt x="214313" y="282535"/>
                  <a:pt x="199579" y="265569"/>
                  <a:pt x="179755" y="262711"/>
                </a:cubicBezTo>
                <a:lnTo>
                  <a:pt x="97959" y="251014"/>
                </a:lnTo>
                <a:cubicBezTo>
                  <a:pt x="49917" y="244227"/>
                  <a:pt x="14288" y="203061"/>
                  <a:pt x="14288" y="154573"/>
                </a:cubicBezTo>
                <a:cubicBezTo>
                  <a:pt x="14288" y="100816"/>
                  <a:pt x="57954" y="57150"/>
                  <a:pt x="111710" y="57150"/>
                </a:cubicBezTo>
                <a:lnTo>
                  <a:pt x="121444" y="57150"/>
                </a:lnTo>
                <a:lnTo>
                  <a:pt x="121444" y="21431"/>
                </a:lnTo>
                <a:close/>
              </a:path>
            </a:pathLst>
          </a:custGeom>
          <a:solidFill>
            <a:srgbClr val="3C5A85"/>
          </a:solidFill>
        </p:spPr>
      </p:sp>
      <p:sp>
        <p:nvSpPr>
          <p:cNvPr id="6" name="Text 3"/>
          <p:cNvSpPr/>
          <p:nvPr/>
        </p:nvSpPr>
        <p:spPr>
          <a:xfrm>
            <a:off x="850900" y="39878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成本高昂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4000" y="4394200"/>
            <a:ext cx="2616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单次咨询500-2000元，覆盖面窄。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76700" y="2819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413250" y="3098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8575" y="0"/>
                </a:moveTo>
                <a:cubicBezTo>
                  <a:pt x="12769" y="0"/>
                  <a:pt x="0" y="12769"/>
                  <a:pt x="0" y="28575"/>
                </a:cubicBezTo>
                <a:cubicBezTo>
                  <a:pt x="0" y="44381"/>
                  <a:pt x="12769" y="57150"/>
                  <a:pt x="28575" y="57150"/>
                </a:cubicBezTo>
                <a:lnTo>
                  <a:pt x="28575" y="66973"/>
                </a:lnTo>
                <a:cubicBezTo>
                  <a:pt x="28575" y="104835"/>
                  <a:pt x="43666" y="141178"/>
                  <a:pt x="70455" y="167967"/>
                </a:cubicBezTo>
                <a:lnTo>
                  <a:pt x="131088" y="228600"/>
                </a:lnTo>
                <a:lnTo>
                  <a:pt x="70455" y="289233"/>
                </a:lnTo>
                <a:cubicBezTo>
                  <a:pt x="43666" y="316022"/>
                  <a:pt x="28575" y="352365"/>
                  <a:pt x="28575" y="390227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314325" y="457200"/>
                </a:lnTo>
                <a:cubicBezTo>
                  <a:pt x="330131" y="457200"/>
                  <a:pt x="342900" y="444431"/>
                  <a:pt x="342900" y="428625"/>
                </a:cubicBezTo>
                <a:cubicBezTo>
                  <a:pt x="342900" y="412819"/>
                  <a:pt x="330131" y="400050"/>
                  <a:pt x="314325" y="400050"/>
                </a:cubicBezTo>
                <a:lnTo>
                  <a:pt x="314325" y="390227"/>
                </a:lnTo>
                <a:cubicBezTo>
                  <a:pt x="314325" y="352365"/>
                  <a:pt x="299234" y="316022"/>
                  <a:pt x="272445" y="289233"/>
                </a:cubicBezTo>
                <a:lnTo>
                  <a:pt x="211812" y="228600"/>
                </a:lnTo>
                <a:lnTo>
                  <a:pt x="272445" y="167967"/>
                </a:lnTo>
                <a:cubicBezTo>
                  <a:pt x="299234" y="141178"/>
                  <a:pt x="314325" y="104835"/>
                  <a:pt x="314325" y="66973"/>
                </a:cubicBezTo>
                <a:lnTo>
                  <a:pt x="314325" y="57150"/>
                </a:lnTo>
                <a:cubicBezTo>
                  <a:pt x="330131" y="57150"/>
                  <a:pt x="342900" y="44381"/>
                  <a:pt x="342900" y="28575"/>
                </a:cubicBezTo>
                <a:cubicBezTo>
                  <a:pt x="342900" y="12769"/>
                  <a:pt x="330131" y="0"/>
                  <a:pt x="314325" y="0"/>
                </a:cubicBezTo>
                <a:lnTo>
                  <a:pt x="28575" y="0"/>
                </a:lnTo>
                <a:close/>
                <a:moveTo>
                  <a:pt x="85725" y="66973"/>
                </a:moveTo>
                <a:lnTo>
                  <a:pt x="85725" y="57150"/>
                </a:lnTo>
                <a:lnTo>
                  <a:pt x="257175" y="57150"/>
                </a:lnTo>
                <a:lnTo>
                  <a:pt x="257175" y="66973"/>
                </a:lnTo>
                <a:cubicBezTo>
                  <a:pt x="257175" y="83939"/>
                  <a:pt x="252174" y="100370"/>
                  <a:pt x="242888" y="114300"/>
                </a:cubicBezTo>
                <a:lnTo>
                  <a:pt x="100013" y="114300"/>
                </a:lnTo>
                <a:cubicBezTo>
                  <a:pt x="90815" y="100370"/>
                  <a:pt x="85725" y="83939"/>
                  <a:pt x="85725" y="66973"/>
                </a:cubicBezTo>
                <a:close/>
                <a:moveTo>
                  <a:pt x="100013" y="342900"/>
                </a:moveTo>
                <a:cubicBezTo>
                  <a:pt x="103138" y="338167"/>
                  <a:pt x="106799" y="333702"/>
                  <a:pt x="110817" y="329595"/>
                </a:cubicBezTo>
                <a:lnTo>
                  <a:pt x="171450" y="268962"/>
                </a:lnTo>
                <a:lnTo>
                  <a:pt x="232083" y="329595"/>
                </a:lnTo>
                <a:cubicBezTo>
                  <a:pt x="236190" y="333702"/>
                  <a:pt x="239762" y="338167"/>
                  <a:pt x="242977" y="342900"/>
                </a:cubicBezTo>
                <a:lnTo>
                  <a:pt x="100013" y="342900"/>
                </a:lnTo>
                <a:close/>
              </a:path>
            </a:pathLst>
          </a:custGeom>
          <a:solidFill>
            <a:srgbClr val="3C5A85"/>
          </a:solidFill>
        </p:spPr>
      </p:sp>
      <p:sp>
        <p:nvSpPr>
          <p:cNvPr id="10" name="Text 7"/>
          <p:cNvSpPr/>
          <p:nvPr/>
        </p:nvSpPr>
        <p:spPr>
          <a:xfrm>
            <a:off x="3873500" y="39878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效率低下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76600" y="4394200"/>
            <a:ext cx="2616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需预约，单次指导1-2小时，不够实时。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099300" y="2819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7321550" y="3098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3C5A85"/>
          </a:solidFill>
        </p:spPr>
      </p:sp>
      <p:sp>
        <p:nvSpPr>
          <p:cNvPr id="14" name="Text 11"/>
          <p:cNvSpPr/>
          <p:nvPr/>
        </p:nvSpPr>
        <p:spPr>
          <a:xfrm>
            <a:off x="6896100" y="39878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个性化差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99200" y="4394200"/>
            <a:ext cx="2616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通用模板为主，难兼顾疾病、过敏等。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21900" y="2819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10401300" y="309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18" name="Text 15"/>
          <p:cNvSpPr/>
          <p:nvPr/>
        </p:nvSpPr>
        <p:spPr>
          <a:xfrm>
            <a:off x="9918700" y="39878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持续性差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1800" y="4394200"/>
            <a:ext cx="2616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一次性建议，缺乏持续跟踪与动态调整。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1"/>
          <a:srcRect l="20060" t="9520" b="9520"/>
          <a:stretch>
            <a:fillRect/>
          </a:stretch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国内外研究现状与缺口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02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</p:spPr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</p:spPr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0805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国外研究现状：技术路径演进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28448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2010年代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3302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协同过滤食谱推荐起步，基于用户历史行为数据。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76600" y="3302000"/>
            <a:ext cx="1257300" cy="50800"/>
          </a:xfrm>
          <a:custGeom>
            <a:avLst/>
            <a:gdLst/>
            <a:ahLst/>
            <a:cxnLst/>
            <a:rect l="l" t="t" r="r" b="b"/>
            <a:pathLst>
              <a:path w="1257300" h="50800">
                <a:moveTo>
                  <a:pt x="0" y="0"/>
                </a:moveTo>
                <a:lnTo>
                  <a:pt x="1257300" y="0"/>
                </a:lnTo>
                <a:lnTo>
                  <a:pt x="1257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4381500" y="28448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2015-2020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35500" y="3302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引入深度学习，实现食物图像识别与混合推荐。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58100" y="3302000"/>
            <a:ext cx="1257300" cy="50800"/>
          </a:xfrm>
          <a:custGeom>
            <a:avLst/>
            <a:gdLst/>
            <a:ahLst/>
            <a:cxnLst/>
            <a:rect l="l" t="t" r="r" b="b"/>
            <a:pathLst>
              <a:path w="1257300" h="50800">
                <a:moveTo>
                  <a:pt x="0" y="0"/>
                </a:moveTo>
                <a:lnTo>
                  <a:pt x="1257300" y="0"/>
                </a:lnTo>
                <a:lnTo>
                  <a:pt x="1257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8763000" y="28448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2020年至今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17000" y="3302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出现糖尿病专用GI控制、知识图谱营养推理等方案。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6045200"/>
            <a:ext cx="0" cy="558800"/>
          </a:xfrm>
          <a:prstGeom prst="line">
            <a:avLst/>
          </a:prstGeom>
          <a:noFill/>
          <a:ln w="50800">
            <a:solidFill>
              <a:srgbClr val="678BC7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508000" y="6045200"/>
            <a:ext cx="401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代表性产品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8000" y="6350000"/>
            <a:ext cx="401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MyFitnessPal, Fooducate, Nutrino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16400" y="6045200"/>
            <a:ext cx="0" cy="558800"/>
          </a:xfrm>
          <a:prstGeom prst="line">
            <a:avLst/>
          </a:prstGeom>
          <a:noFill/>
          <a:ln w="50800">
            <a:solidFill>
              <a:srgbClr val="678BC7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4470400" y="6045200"/>
            <a:ext cx="401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技术特点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70400" y="6350000"/>
            <a:ext cx="401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AI驱动，覆盖记录、评分与推荐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78800" y="6045200"/>
            <a:ext cx="0" cy="558800"/>
          </a:xfrm>
          <a:prstGeom prst="line">
            <a:avLst/>
          </a:prstGeom>
          <a:noFill/>
          <a:ln w="50800">
            <a:solidFill>
              <a:srgbClr val="678BC7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8432800" y="6045200"/>
            <a:ext cx="401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主要局限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32800" y="6350000"/>
            <a:ext cx="401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对中国人群支持不足，缺乏完整系统级实现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0805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国内研究与产业应用局限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5689600" cy="4165600"/>
          </a:xfrm>
          <a:custGeom>
            <a:avLst/>
            <a:gdLst/>
            <a:ahLst/>
            <a:cxnLst/>
            <a:rect l="l" t="t" r="r" b="b"/>
            <a:pathLst>
              <a:path w="5689600" h="41656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4064001"/>
                </a:lnTo>
                <a:cubicBezTo>
                  <a:pt x="5689600" y="4120113"/>
                  <a:pt x="5644113" y="4165600"/>
                  <a:pt x="5588001" y="4165600"/>
                </a:cubicBezTo>
                <a:lnTo>
                  <a:pt x="101599" y="4165600"/>
                </a:lnTo>
                <a:cubicBezTo>
                  <a:pt x="45487" y="4165600"/>
                  <a:pt x="0" y="4120113"/>
                  <a:pt x="0" y="40640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90550" y="137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34888" y="10021"/>
                </a:moveTo>
                <a:cubicBezTo>
                  <a:pt x="130026" y="7243"/>
                  <a:pt x="124023" y="7243"/>
                  <a:pt x="119112" y="10021"/>
                </a:cubicBezTo>
                <a:lnTo>
                  <a:pt x="7987" y="73521"/>
                </a:lnTo>
                <a:cubicBezTo>
                  <a:pt x="1736" y="77093"/>
                  <a:pt x="-1339" y="84435"/>
                  <a:pt x="496" y="91380"/>
                </a:cubicBezTo>
                <a:cubicBezTo>
                  <a:pt x="2332" y="98326"/>
                  <a:pt x="8682" y="103188"/>
                  <a:pt x="15875" y="103188"/>
                </a:cubicBezTo>
                <a:lnTo>
                  <a:pt x="31750" y="103188"/>
                </a:lnTo>
                <a:lnTo>
                  <a:pt x="31750" y="206375"/>
                </a:lnTo>
                <a:lnTo>
                  <a:pt x="31750" y="206375"/>
                </a:lnTo>
                <a:lnTo>
                  <a:pt x="6350" y="225425"/>
                </a:lnTo>
                <a:cubicBezTo>
                  <a:pt x="2332" y="228402"/>
                  <a:pt x="0" y="23311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238125" y="254000"/>
                </a:lnTo>
                <a:cubicBezTo>
                  <a:pt x="246906" y="254000"/>
                  <a:pt x="254000" y="246906"/>
                  <a:pt x="254000" y="238125"/>
                </a:cubicBezTo>
                <a:cubicBezTo>
                  <a:pt x="254000" y="233114"/>
                  <a:pt x="251668" y="228402"/>
                  <a:pt x="247650" y="225425"/>
                </a:cubicBezTo>
                <a:lnTo>
                  <a:pt x="222250" y="206375"/>
                </a:lnTo>
                <a:lnTo>
                  <a:pt x="222250" y="103188"/>
                </a:lnTo>
                <a:lnTo>
                  <a:pt x="238125" y="103188"/>
                </a:lnTo>
                <a:cubicBezTo>
                  <a:pt x="245318" y="103188"/>
                  <a:pt x="251619" y="98326"/>
                  <a:pt x="253454" y="91380"/>
                </a:cubicBezTo>
                <a:cubicBezTo>
                  <a:pt x="255290" y="84435"/>
                  <a:pt x="252214" y="77093"/>
                  <a:pt x="245963" y="73521"/>
                </a:cubicBezTo>
                <a:lnTo>
                  <a:pt x="134838" y="10021"/>
                </a:lnTo>
                <a:close/>
                <a:moveTo>
                  <a:pt x="198438" y="103188"/>
                </a:moveTo>
                <a:lnTo>
                  <a:pt x="198438" y="206375"/>
                </a:lnTo>
                <a:lnTo>
                  <a:pt x="166688" y="206375"/>
                </a:lnTo>
                <a:lnTo>
                  <a:pt x="166688" y="103188"/>
                </a:lnTo>
                <a:lnTo>
                  <a:pt x="198438" y="103188"/>
                </a:lnTo>
                <a:close/>
                <a:moveTo>
                  <a:pt x="142875" y="103188"/>
                </a:moveTo>
                <a:lnTo>
                  <a:pt x="142875" y="206375"/>
                </a:lnTo>
                <a:lnTo>
                  <a:pt x="111125" y="206375"/>
                </a:lnTo>
                <a:lnTo>
                  <a:pt x="111125" y="103188"/>
                </a:lnTo>
                <a:lnTo>
                  <a:pt x="142875" y="103188"/>
                </a:lnTo>
                <a:close/>
                <a:moveTo>
                  <a:pt x="87313" y="103188"/>
                </a:moveTo>
                <a:lnTo>
                  <a:pt x="87313" y="206375"/>
                </a:lnTo>
                <a:lnTo>
                  <a:pt x="55563" y="206375"/>
                </a:lnTo>
                <a:lnTo>
                  <a:pt x="55563" y="103188"/>
                </a:lnTo>
                <a:lnTo>
                  <a:pt x="87313" y="103188"/>
                </a:lnTo>
                <a:close/>
                <a:moveTo>
                  <a:pt x="127000" y="47625"/>
                </a:moveTo>
                <a:cubicBezTo>
                  <a:pt x="135762" y="47625"/>
                  <a:pt x="142875" y="54738"/>
                  <a:pt x="142875" y="63500"/>
                </a:cubicBezTo>
                <a:cubicBezTo>
                  <a:pt x="142875" y="72262"/>
                  <a:pt x="135762" y="79375"/>
                  <a:pt x="127000" y="79375"/>
                </a:cubicBezTo>
                <a:cubicBezTo>
                  <a:pt x="118238" y="79375"/>
                  <a:pt x="111125" y="72262"/>
                  <a:pt x="111125" y="63500"/>
                </a:cubicBezTo>
                <a:cubicBezTo>
                  <a:pt x="111125" y="54738"/>
                  <a:pt x="118238" y="47625"/>
                  <a:pt x="127000" y="47625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6" name="Text 3"/>
          <p:cNvSpPr/>
          <p:nvPr/>
        </p:nvSpPr>
        <p:spPr>
          <a:xfrm>
            <a:off x="977900" y="1320800"/>
            <a:ext cx="4660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学术研究进展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800" y="1828800"/>
            <a:ext cx="5080000" cy="304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清华大学：用户画像推荐算法</a:t>
            </a:r>
            <a:endParaRPr lang="en-US" sz="1600" dirty="0"/>
          </a:p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浙江大学：中医体质理论+营养推荐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北京协和医学院：慢性病饮食管理系统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1016000"/>
            <a:ext cx="5689600" cy="4165600"/>
          </a:xfrm>
          <a:custGeom>
            <a:avLst/>
            <a:gdLst/>
            <a:ahLst/>
            <a:cxnLst/>
            <a:rect l="l" t="t" r="r" b="b"/>
            <a:pathLst>
              <a:path w="5689600" h="41656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4064001"/>
                </a:lnTo>
                <a:cubicBezTo>
                  <a:pt x="5689600" y="4120113"/>
                  <a:pt x="5644113" y="4165600"/>
                  <a:pt x="5588001" y="4165600"/>
                </a:cubicBezTo>
                <a:lnTo>
                  <a:pt x="101599" y="4165600"/>
                </a:lnTo>
                <a:cubicBezTo>
                  <a:pt x="45487" y="4165600"/>
                  <a:pt x="0" y="4120113"/>
                  <a:pt x="0" y="40640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AB3D4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584950" y="137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7094" y="15875"/>
                  <a:pt x="0" y="22969"/>
                  <a:pt x="0" y="31750"/>
                </a:cubicBezTo>
                <a:lnTo>
                  <a:pt x="0" y="214313"/>
                </a:lnTo>
                <a:cubicBezTo>
                  <a:pt x="0" y="227459"/>
                  <a:pt x="10666" y="238125"/>
                  <a:pt x="23812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75505"/>
                </a:lnTo>
                <a:cubicBezTo>
                  <a:pt x="254000" y="66477"/>
                  <a:pt x="244376" y="60771"/>
                  <a:pt x="236438" y="65038"/>
                </a:cubicBezTo>
                <a:lnTo>
                  <a:pt x="158750" y="106859"/>
                </a:lnTo>
                <a:lnTo>
                  <a:pt x="158750" y="75505"/>
                </a:lnTo>
                <a:cubicBezTo>
                  <a:pt x="158750" y="66477"/>
                  <a:pt x="149126" y="60771"/>
                  <a:pt x="141188" y="65038"/>
                </a:cubicBezTo>
                <a:lnTo>
                  <a:pt x="63500" y="106859"/>
                </a:lnTo>
                <a:lnTo>
                  <a:pt x="63500" y="31750"/>
                </a:lnTo>
                <a:cubicBezTo>
                  <a:pt x="63500" y="22969"/>
                  <a:pt x="56406" y="15875"/>
                  <a:pt x="47625" y="15875"/>
                </a:cubicBezTo>
                <a:lnTo>
                  <a:pt x="15875" y="15875"/>
                </a:lnTo>
                <a:close/>
              </a:path>
            </a:pathLst>
          </a:custGeom>
          <a:solidFill>
            <a:srgbClr val="3C5A85"/>
          </a:solidFill>
        </p:spPr>
      </p:sp>
      <p:sp>
        <p:nvSpPr>
          <p:cNvPr id="10" name="Text 7"/>
          <p:cNvSpPr/>
          <p:nvPr/>
        </p:nvSpPr>
        <p:spPr>
          <a:xfrm>
            <a:off x="6972300" y="1320800"/>
            <a:ext cx="4660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产业应用现状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200" y="1828800"/>
            <a:ext cx="5080000" cy="304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薄荷健康：热量记录+减脂方案</a:t>
            </a:r>
            <a:endParaRPr lang="en-US" sz="1600" dirty="0"/>
          </a:p>
          <a:p>
            <a:pPr marL="0" indent="0" algn="l">
              <a:lnSpc>
                <a:spcPct val="120000"/>
              </a:lnSpc>
              <a:spcBef>
                <a:spcPts val="10"/>
              </a:spcBef>
              <a:buSzPct val="100000"/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Keep：运动+饮食管理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平安好医生：在线营养咨询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5486400"/>
            <a:ext cx="11684000" cy="1117600"/>
          </a:xfrm>
          <a:custGeom>
            <a:avLst/>
            <a:gdLst/>
            <a:ahLst/>
            <a:cxnLst/>
            <a:rect l="l" t="t" r="r" b="b"/>
            <a:pathLst>
              <a:path w="11684000" h="11176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1015999"/>
                </a:lnTo>
                <a:cubicBezTo>
                  <a:pt x="11684000" y="1072112"/>
                  <a:pt x="11638512" y="1117600"/>
                  <a:pt x="115823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13" name="Shape 10"/>
          <p:cNvSpPr/>
          <p:nvPr/>
        </p:nvSpPr>
        <p:spPr>
          <a:xfrm>
            <a:off x="488950" y="575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850900" y="5689600"/>
            <a:ext cx="1088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146800"/>
            <a:ext cx="11785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健康约束不足、个性化有限、可解释性差、系统完整性低。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4:56-d2sjfg61bb2p4onbpvpg.png"/>
          <p:cNvPicPr>
            <a:picLocks noChangeAspect="1"/>
          </p:cNvPicPr>
          <p:nvPr/>
        </p:nvPicPr>
        <p:blipFill>
          <a:blip r:embed="rId1"/>
          <a:srcRect l="20060" t="9520" b="9520"/>
          <a:stretch>
            <a:fillRect/>
          </a:stretch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4:56-d2sjfg61bb2p4onbpv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研究目标与整体方案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03</a:t>
            </a:r>
            <a:endParaRPr lang="en-US" sz="1600" dirty="0"/>
          </a:p>
        </p:txBody>
      </p:sp>
      <p:pic>
        <p:nvPicPr>
          <p:cNvPr id="11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</p:spPr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</p:spPr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0805" y="-10795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542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研究目标：构建可解释的健康约束推荐系统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104900" y="2717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333500" y="3022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6" name="Text 3"/>
          <p:cNvSpPr/>
          <p:nvPr/>
        </p:nvSpPr>
        <p:spPr>
          <a:xfrm>
            <a:off x="1117600" y="4089400"/>
            <a:ext cx="1193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4000" y="44958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Spring Boot, React/Vue, MySQL, ML算法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25900" y="2717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330700" y="302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10" name="Text 7"/>
          <p:cNvSpPr/>
          <p:nvPr/>
        </p:nvSpPr>
        <p:spPr>
          <a:xfrm>
            <a:off x="3924300" y="40894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系统组成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75000" y="44958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用户端Web, 管理端Web, 后端API, 推荐引擎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46900" y="2717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7251700" y="302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14" name="Text 11"/>
          <p:cNvSpPr/>
          <p:nvPr/>
        </p:nvSpPr>
        <p:spPr>
          <a:xfrm>
            <a:off x="6845300" y="40894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解决问题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96000" y="44958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个性化不足, 慢病管理困难, 服务成本高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867900" y="2717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9AB3D4">
              <a:alpha val="5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10172700" y="302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405289" y="253246"/>
                </a:moveTo>
                <a:lnTo>
                  <a:pt x="310039" y="405646"/>
                </a:lnTo>
                <a:cubicBezTo>
                  <a:pt x="305038" y="413623"/>
                  <a:pt x="296466" y="418624"/>
                  <a:pt x="287060" y="419100"/>
                </a:cubicBezTo>
                <a:cubicBezTo>
                  <a:pt x="277654" y="419576"/>
                  <a:pt x="268605" y="415290"/>
                  <a:pt x="263009" y="407670"/>
                </a:cubicBezTo>
                <a:lnTo>
                  <a:pt x="205859" y="331470"/>
                </a:lnTo>
                <a:cubicBezTo>
                  <a:pt x="196334" y="318849"/>
                  <a:pt x="198953" y="300990"/>
                  <a:pt x="211574" y="291465"/>
                </a:cubicBezTo>
                <a:cubicBezTo>
                  <a:pt x="224195" y="281940"/>
                  <a:pt x="242054" y="284559"/>
                  <a:pt x="251579" y="297180"/>
                </a:cubicBezTo>
                <a:lnTo>
                  <a:pt x="283726" y="340043"/>
                </a:lnTo>
                <a:lnTo>
                  <a:pt x="356830" y="223004"/>
                </a:lnTo>
                <a:cubicBezTo>
                  <a:pt x="365165" y="209669"/>
                  <a:pt x="382786" y="205502"/>
                  <a:pt x="396240" y="213955"/>
                </a:cubicBezTo>
                <a:cubicBezTo>
                  <a:pt x="409694" y="222409"/>
                  <a:pt x="413742" y="239911"/>
                  <a:pt x="405289" y="253365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18" name="Text 15"/>
          <p:cNvSpPr/>
          <p:nvPr/>
        </p:nvSpPr>
        <p:spPr>
          <a:xfrm>
            <a:off x="9766300" y="40894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预期效果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17000" y="44958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个性化方案, 健康约束处理, 管理智能化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9690" y="-309245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系统架构与关键技术选型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711360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152400" y="863760"/>
            <a:ext cx="11887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表示层 (Presentation Layer)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2400" y="1225710"/>
            <a:ext cx="1188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React 18 (用户端) / Vue 2 (管理端), TypeScript, Tailwind CSS / Element UI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1625442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C5A85"/>
          </a:solidFill>
        </p:spPr>
      </p:sp>
      <p:sp>
        <p:nvSpPr>
          <p:cNvPr id="8" name="Text 5"/>
          <p:cNvSpPr/>
          <p:nvPr/>
        </p:nvSpPr>
        <p:spPr>
          <a:xfrm>
            <a:off x="152400" y="1777842"/>
            <a:ext cx="11887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业务逻辑层 (Business Logic Layer)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" y="2133442"/>
            <a:ext cx="1188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Spring Boot 2.5, MyBatis, JWT, 推荐算法服务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2540159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AB3D4">
              <a:alpha val="30196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50800" y="2692559"/>
            <a:ext cx="11887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C5A8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数据访问层 (Data Access Layer)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800" y="3048159"/>
            <a:ext cx="1188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MySQL 8.0, MySQL存储过程, Druid连接池</a:t>
            </a:r>
            <a:endParaRPr lang="en-US" sz="1600" dirty="0"/>
          </a:p>
        </p:txBody>
      </p:sp>
      <p:pic>
        <p:nvPicPr>
          <p:cNvPr id="15" name="图片 14" descr="Mermaid Chart - Create complex, visual diagrams with text.-2025-10-17-0303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498850"/>
            <a:ext cx="11760200" cy="30073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 0" descr="https://kimi-img.moonshot.cn/pub/slides/slides_tmpl/image/25-09-04-14:55:00-d2sjfh61bb2p4onbpvv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8280" y="-149225"/>
            <a:ext cx="12478385" cy="6978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3265" y="6985"/>
            <a:ext cx="1074610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6000"/>
              <a:t>系统功能模块图</a:t>
            </a:r>
            <a:endParaRPr lang="zh-CN" altLang="en-US" sz="6000"/>
          </a:p>
        </p:txBody>
      </p:sp>
      <p:pic>
        <p:nvPicPr>
          <p:cNvPr id="3" name="图片 2" descr="图片 (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95" y="1064895"/>
            <a:ext cx="10058400" cy="53759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40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62949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98492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234036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6958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50512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640667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77621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11754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47298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18284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31838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2819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106" y="2098040"/>
            <a:ext cx="0" cy="1844892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</p:spPr>
      </p:sp>
      <p:sp>
        <p:nvSpPr>
          <p:cNvPr id="19" name="Text 17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39925" y="2018030"/>
            <a:ext cx="9644380" cy="191389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0" b="1" kern="0" spc="100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感谢观看</a:t>
            </a:r>
            <a:endParaRPr lang="en-US" sz="16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6000" b="1" kern="0" spc="100" dirty="0">
                <a:solidFill>
                  <a:srgbClr val="00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ＴＨＡＮＫＳ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</p:sp>
      <p:pic>
        <p:nvPicPr>
          <p:cNvPr id="23" name="Image 0" descr="https://kimi-img.moonshot.cn/pub/slides/slides_tmpl/image/25-09-04-14:54:55-d2sjffu1bb2p4onbpvj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760" y="4203065"/>
            <a:ext cx="303530" cy="142875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9-04-14:54:55-d2sjffu1bb2p4onbpv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25" name="Image 2" descr="https://kimi-img.moonshot.cn/pub/slides/slides_tmpl/image/25-09-04-14:54:55-d2sjffu1bb2p4onbpv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122410" y="4598035"/>
            <a:ext cx="2331720" cy="429260"/>
          </a:xfrm>
          <a:prstGeom prst="roundRect">
            <a:avLst>
              <a:gd name="adj" fmla="val 44740"/>
            </a:avLst>
          </a:prstGeom>
          <a:solidFill>
            <a:srgbClr val="4874CB"/>
          </a:solidFill>
        </p:spPr>
      </p:sp>
      <p:sp>
        <p:nvSpPr>
          <p:cNvPr id="27" name="Text 22"/>
          <p:cNvSpPr/>
          <p:nvPr/>
        </p:nvSpPr>
        <p:spPr>
          <a:xfrm>
            <a:off x="9122410" y="4598035"/>
            <a:ext cx="2331720" cy="4292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9135110" y="4596130"/>
            <a:ext cx="2306955" cy="4298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向俊宇</a:t>
            </a:r>
            <a:endParaRPr lang="zh-CN" altLang="en-US" sz="22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WPS 演示</Application>
  <PresentationFormat>On-screen Show (16:9)</PresentationFormat>
  <Paragraphs>152</Paragraphs>
  <Slides>12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MiSans</vt:lpstr>
      <vt:lpstr>MiSans</vt:lpstr>
      <vt:lpstr>MiSans</vt:lpstr>
      <vt:lpstr>Arial Black</vt:lpstr>
      <vt:lpstr>Arial Black</vt:lpstr>
      <vt:lpstr>Arial Black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机器学习驱动的个性化健康饮食推荐系统</dc:title>
  <dc:creator>Kimi</dc:creator>
  <dc:subject>机器学习驱动的个性化健康饮食推荐系统</dc:subject>
  <cp:lastModifiedBy>Administrator</cp:lastModifiedBy>
  <cp:revision>18</cp:revision>
  <dcterms:created xsi:type="dcterms:W3CDTF">2025-10-16T03:52:00Z</dcterms:created>
  <dcterms:modified xsi:type="dcterms:W3CDTF">2025-10-25T05:12:12Z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{"Label":"机器学习驱动的个性化健康饮食推荐系统","ContentProducer":"001191110108MACG2KBH8F10000","ProduceID":"d3o6dqgs8jdqgdbalt30","ReservedCode1":"","ContentPropagator":"001191110108MACG2KBH8F20000","PropagateID":"d3o6dqgs8jdqgdbalt30","ReservedCode2":""}</vt:lpwstr>
  </property>
  <property fmtid="{D5CDD505-2E9C-101B-9397-08002B2CF9AE}" pid="3" name="KSOProductBuildVer">
    <vt:lpwstr>2052-11.8.2.9022</vt:lpwstr>
  </property>
</Properties>
</file>